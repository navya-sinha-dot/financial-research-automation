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37160" cy="3474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2563EB"/>
                </a:solidFill>
              </a:defRPr>
            </a:pPr>
            <a:r>
              <a:t>FINANCIAL RESEARCH AUTOMATION (FRA)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</a:defRPr>
            </a:pPr>
            <a:r>
              <a:t>Infosys Limited (INFY)</a:t>
            </a:r>
          </a:p>
          <a:p>
            <a:pPr>
              <a:spcAft>
                <a:spcPts val="2400"/>
              </a:spcAft>
              <a:defRPr sz="2000">
                <a:solidFill>
                  <a:srgbClr val="F1F5F9"/>
                </a:solidFill>
              </a:defRPr>
            </a:pPr>
            <a:r>
              <a:t>Quarterly Financial Performance &amp; Peer Benchmarking Report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Exchange: NASDAQ  |  Sector: Information Technology  |  Generated: September 18,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Executive Financial Summary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Infosys Limited (INFY) - Core Performance Indicators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QUARTERLY TOTAL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$4,718.0 M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Latest Revenue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PROFITABILITY</a:t>
            </a:r>
          </a:p>
          <a:p>
            <a:pPr>
              <a:defRPr sz="2200" b="1">
                <a:solidFill>
                  <a:srgbClr val="0D9488"/>
                </a:solidFill>
              </a:defRPr>
            </a:pPr>
            <a:r>
              <a:t>15.9%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Net Profit Margin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SHAREHOLDER RETURN</a:t>
            </a:r>
          </a:p>
          <a:p>
            <a:pPr>
              <a:defRPr sz="2200" b="1">
                <a:solidFill>
                  <a:srgbClr val="D97706"/>
                </a:solidFill>
              </a:defRPr>
            </a:pPr>
            <a:r>
              <a:t>8.1%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Return on Equity (ROE)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LIQUIDITY BUFFER</a:t>
            </a:r>
          </a:p>
          <a:p>
            <a:pPr>
              <a:defRPr sz="2200" b="1">
                <a:solidFill>
                  <a:srgbClr val="2563EB"/>
                </a:solidFill>
              </a:defRPr>
            </a:pPr>
            <a:r>
              <a:t>2.50x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Current Ratio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338328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354"/>
                <a:gridCol w="1528354"/>
                <a:gridCol w="1528354"/>
                <a:gridCol w="1528354"/>
                <a:gridCol w="1528354"/>
                <a:gridCol w="1528354"/>
                <a:gridCol w="1528356"/>
              </a:tblGrid>
              <a:tr h="914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Report Date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Revenue ($M)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Net Income ($M)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YoY Growth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Net Margin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Q1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2023-06-30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4,617.0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724.0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7.9%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Q2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2023-09-30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4,718.0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8.1%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Financial Trajectory &amp; Trends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Multi-quarter revenue, net income, and margin performance</a:t>
            </a:r>
          </a:p>
        </p:txBody>
      </p:sp>
      <p:pic>
        <p:nvPicPr>
          <p:cNvPr id="3" name="Picture 2" descr="INFY_rev_20260918_0508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2902931"/>
          </a:xfrm>
          <a:prstGeom prst="rect">
            <a:avLst/>
          </a:prstGeom>
        </p:spPr>
      </p:pic>
      <p:pic>
        <p:nvPicPr>
          <p:cNvPr id="4" name="Picture 3" descr="INFY_margins_20260918_0508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29029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5778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Key Analytical Insights: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INFY delivered $4,718.0M in latest quarterly revenue with a robust net margin of 15.9%.</a:t>
            </a:r>
            <a:br/>
            <a:r>
              <a:t>• Balance sheet shows stable liquidity with consistent operating cash flow 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Peer Benchmark &amp; Percentile Standing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INFY competitive position relative to industry peers</a:t>
            </a:r>
          </a:p>
        </p:txBody>
      </p:sp>
      <p:pic>
        <p:nvPicPr>
          <p:cNvPr id="3" name="Picture 2" descr="INFY_peer_20260918_0508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303520" cy="295947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309360" y="1645920"/>
          <a:ext cx="5120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2057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Ticker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Net Margin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Percentile Rank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2057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INFY *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15.9%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8.1%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100th pct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